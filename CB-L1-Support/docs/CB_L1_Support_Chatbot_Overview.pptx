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58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1005840"/>
            <a:ext cx="822960" cy="8229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00584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CB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6B6D4"/>
                </a:solidFill>
                <a:latin typeface="Segoe UI"/>
              </a:rPr>
              <a:t>ENGINEERING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106070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egoe UI"/>
              </a:rPr>
              <a:t>CB L1 Support Chatbot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118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  <a:latin typeface="Segoe UI"/>
              </a:rPr>
              <a:t>Architecture, features &amp; file-by-file reference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343400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15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4343400"/>
            <a:ext cx="8961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E2E8F0"/>
                </a:solidFill>
                <a:latin typeface="Segoe UI"/>
              </a:rPr>
              <a:t>FastAPI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9384" y="4343400"/>
            <a:ext cx="1901952" cy="310896"/>
          </a:xfrm>
          <a:prstGeom prst="roundRect">
            <a:avLst>
              <a:gd name="adj" fmla="val 50000"/>
            </a:avLst>
          </a:prstGeom>
          <a:solidFill>
            <a:srgbClr val="15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29384" y="4343400"/>
            <a:ext cx="19019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E2E8F0"/>
                </a:solidFill>
                <a:latin typeface="Segoe UI"/>
              </a:rPr>
              <a:t>React + TypeScript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95928" y="4343400"/>
            <a:ext cx="804672" cy="310896"/>
          </a:xfrm>
          <a:prstGeom prst="roundRect">
            <a:avLst>
              <a:gd name="adj" fmla="val 50000"/>
            </a:avLst>
          </a:prstGeom>
          <a:solidFill>
            <a:srgbClr val="15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95928" y="4343400"/>
            <a:ext cx="804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E2E8F0"/>
                </a:solidFill>
                <a:latin typeface="Segoe UI"/>
              </a:rPr>
              <a:t>Qdrant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65192" y="4343400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15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65192" y="4343400"/>
            <a:ext cx="13533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E2E8F0"/>
                </a:solidFill>
                <a:latin typeface="Segoe UI"/>
              </a:rPr>
              <a:t>LLM-agnostic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62636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Segoe UI"/>
              </a:rPr>
              <a:t>Defect Intelligence  +  Documentation RAG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310896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6888" y="310896"/>
            <a:ext cx="102412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" y="3108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4F46E5"/>
                </a:solidFill>
                <a:latin typeface="Segoe U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" y="54864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Segoe UI"/>
              </a:rPr>
              <a:t>Agenda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64240" y="329184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15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329184"/>
            <a:ext cx="777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01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47104"/>
            <a:ext cx="11185855" cy="9525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6019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Segoe UI"/>
              </a:rPr>
              <a:t>CB L1 Support Chatbot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   ·   Technical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720" y="1468120"/>
            <a:ext cx="5349240" cy="786384"/>
          </a:xfrm>
          <a:prstGeom prst="roundRect">
            <a:avLst>
              <a:gd name="adj" fmla="val 18000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1417320"/>
            <a:ext cx="5349240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31520" y="1581912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1581912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1417320"/>
            <a:ext cx="43434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>
                <a:solidFill>
                  <a:srgbClr val="111827"/>
                </a:solidFill>
                <a:latin typeface="Segoe UI"/>
              </a:rPr>
              <a:t>Problem &amp; solution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3720" y="2364232"/>
            <a:ext cx="5349240" cy="786384"/>
          </a:xfrm>
          <a:prstGeom prst="roundRect">
            <a:avLst>
              <a:gd name="adj" fmla="val 18000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02920" y="2313432"/>
            <a:ext cx="5349240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31520" y="2478024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2478024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2313432"/>
            <a:ext cx="43434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>
                <a:solidFill>
                  <a:srgbClr val="111827"/>
                </a:solidFill>
                <a:latin typeface="Segoe UI"/>
              </a:rPr>
              <a:t>System architecture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3720" y="3260344"/>
            <a:ext cx="5349240" cy="786384"/>
          </a:xfrm>
          <a:prstGeom prst="roundRect">
            <a:avLst>
              <a:gd name="adj" fmla="val 18000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02920" y="3209544"/>
            <a:ext cx="5349240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31520" y="3374136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3374136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209544"/>
            <a:ext cx="43434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>
                <a:solidFill>
                  <a:srgbClr val="111827"/>
                </a:solidFill>
                <a:latin typeface="Segoe UI"/>
              </a:rPr>
              <a:t>The two knowledge bases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3720" y="4156456"/>
            <a:ext cx="5349240" cy="786384"/>
          </a:xfrm>
          <a:prstGeom prst="roundRect">
            <a:avLst>
              <a:gd name="adj" fmla="val 18000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02920" y="4105656"/>
            <a:ext cx="5349240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31520" y="4270248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4270248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105656"/>
            <a:ext cx="43434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>
                <a:solidFill>
                  <a:srgbClr val="111827"/>
                </a:solidFill>
                <a:latin typeface="Segoe UI"/>
              </a:rPr>
              <a:t>Hybrid retrieval scoring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3720" y="5052568"/>
            <a:ext cx="5349240" cy="786384"/>
          </a:xfrm>
          <a:prstGeom prst="roundRect">
            <a:avLst>
              <a:gd name="adj" fmla="val 18000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02920" y="5001768"/>
            <a:ext cx="5349240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31520" y="5166360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516636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001768"/>
            <a:ext cx="43434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>
                <a:solidFill>
                  <a:srgbClr val="111827"/>
                </a:solidFill>
                <a:latin typeface="Segoe UI"/>
              </a:rPr>
              <a:t>Backend file reference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7280" y="1468120"/>
            <a:ext cx="5349240" cy="786384"/>
          </a:xfrm>
          <a:prstGeom prst="roundRect">
            <a:avLst>
              <a:gd name="adj" fmla="val 18000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126480" y="1417320"/>
            <a:ext cx="5349240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355080" y="1581912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26480" y="1581912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1417320"/>
            <a:ext cx="43434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>
                <a:solidFill>
                  <a:srgbClr val="111827"/>
                </a:solidFill>
                <a:latin typeface="Segoe UI"/>
              </a:rPr>
              <a:t>Feature deep dive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7280" y="2364232"/>
            <a:ext cx="5349240" cy="786384"/>
          </a:xfrm>
          <a:prstGeom prst="roundRect">
            <a:avLst>
              <a:gd name="adj" fmla="val 18000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126480" y="2313432"/>
            <a:ext cx="5349240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355080" y="2478024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26480" y="2478024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2313432"/>
            <a:ext cx="43434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>
                <a:solidFill>
                  <a:srgbClr val="111827"/>
                </a:solidFill>
                <a:latin typeface="Segoe UI"/>
              </a:rPr>
              <a:t>Frontend file reference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77280" y="3260344"/>
            <a:ext cx="5349240" cy="786384"/>
          </a:xfrm>
          <a:prstGeom prst="roundRect">
            <a:avLst>
              <a:gd name="adj" fmla="val 18000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126480" y="3209544"/>
            <a:ext cx="5349240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6355080" y="3374136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126480" y="3374136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95160" y="3209544"/>
            <a:ext cx="43434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>
                <a:solidFill>
                  <a:srgbClr val="111827"/>
                </a:solidFill>
                <a:latin typeface="Segoe UI"/>
              </a:rPr>
              <a:t>Config &amp; deployment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77280" y="4156456"/>
            <a:ext cx="5349240" cy="786384"/>
          </a:xfrm>
          <a:prstGeom prst="roundRect">
            <a:avLst>
              <a:gd name="adj" fmla="val 18000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6126480" y="4105656"/>
            <a:ext cx="5349240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6355080" y="4270248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126480" y="4270248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95160" y="4105656"/>
            <a:ext cx="43434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>
                <a:solidFill>
                  <a:srgbClr val="111827"/>
                </a:solidFill>
                <a:latin typeface="Segoe UI"/>
              </a:rPr>
              <a:t>Developer playbook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7280" y="5052568"/>
            <a:ext cx="5349240" cy="786384"/>
          </a:xfrm>
          <a:prstGeom prst="roundRect">
            <a:avLst>
              <a:gd name="adj" fmla="val 18000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126480" y="5001768"/>
            <a:ext cx="5349240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6355080" y="5166360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126480" y="516636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95160" y="5001768"/>
            <a:ext cx="43434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>
                <a:solidFill>
                  <a:srgbClr val="111827"/>
                </a:solidFill>
                <a:latin typeface="Segoe UI"/>
              </a:rPr>
              <a:t>Limitations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310896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6888" y="310896"/>
            <a:ext cx="102412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" y="3108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59E0B"/>
                </a:solidFill>
                <a:latin typeface="Segoe UI"/>
              </a:rPr>
              <a:t>BUSINESS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" y="54864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Segoe UI"/>
              </a:rPr>
              <a:t>Problem &amp; 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64240" y="329184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15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329184"/>
            <a:ext cx="777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02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47104"/>
            <a:ext cx="11185855" cy="9525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6019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Segoe UI"/>
              </a:rPr>
              <a:t>CB L1 Support Chatbot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   ·   Technical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720" y="1513840"/>
            <a:ext cx="5440680" cy="4709160"/>
          </a:xfrm>
          <a:prstGeom prst="roundRect">
            <a:avLst>
              <a:gd name="adj" fmla="val 5000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1463040"/>
            <a:ext cx="5440680" cy="4709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31520" y="169164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691640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173736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11827"/>
                </a:solidFill>
                <a:latin typeface="Segoe UI"/>
              </a:rPr>
              <a:t>The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60604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 b="0">
                <a:solidFill>
                  <a:srgbClr val="111827"/>
                </a:solidFill>
                <a:latin typeface="Segoe UI"/>
              </a:rPr>
              <a:t>●  L1 engineers re-investigate defects already solved before</a:t>
            </a:r>
          </a:p>
          <a:p>
            <a:pPr>
              <a:spcAft>
                <a:spcPts val="1400"/>
              </a:spcAft>
            </a:pPr>
            <a:r>
              <a:rPr sz="1400" b="0">
                <a:solidFill>
                  <a:srgbClr val="111827"/>
                </a:solidFill>
                <a:latin typeface="Segoe UI"/>
              </a:rPr>
              <a:t>●  Historical Jira fix knowledge is scattered across thousands of tickets</a:t>
            </a:r>
          </a:p>
          <a:p>
            <a:pPr>
              <a:spcAft>
                <a:spcPts val="1400"/>
              </a:spcAft>
            </a:pPr>
            <a:r>
              <a:rPr sz="1400" b="0">
                <a:solidFill>
                  <a:srgbClr val="111827"/>
                </a:solidFill>
                <a:latin typeface="Segoe UI"/>
              </a:rPr>
              <a:t>●  Product documentation lives separately from real defect history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14440" y="1513840"/>
            <a:ext cx="5440680" cy="4709160"/>
          </a:xfrm>
          <a:prstGeom prst="roundRect">
            <a:avLst>
              <a:gd name="adj" fmla="val 5000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63640" y="1463040"/>
            <a:ext cx="5440680" cy="4709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92240" y="169164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1691640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173736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11827"/>
                </a:solidFill>
                <a:latin typeface="Segoe UI"/>
              </a:rPr>
              <a:t>The 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60604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 b="0">
                <a:solidFill>
                  <a:srgbClr val="111827"/>
                </a:solidFill>
                <a:latin typeface="Segoe UI"/>
              </a:rPr>
              <a:t>●  One assistant, two grounded evidence sources</a:t>
            </a:r>
          </a:p>
          <a:p>
            <a:pPr>
              <a:spcAft>
                <a:spcPts val="1400"/>
              </a:spcAft>
            </a:pPr>
            <a:r>
              <a:rPr sz="1400" b="0">
                <a:solidFill>
                  <a:srgbClr val="111827"/>
                </a:solidFill>
                <a:latin typeface="Segoe UI"/>
              </a:rPr>
              <a:t>●  Every answer cites real Jira keys / document sources</a:t>
            </a:r>
          </a:p>
          <a:p>
            <a:pPr>
              <a:spcAft>
                <a:spcPts val="1400"/>
              </a:spcAft>
            </a:pPr>
            <a:r>
              <a:rPr sz="1400" b="0">
                <a:solidFill>
                  <a:srgbClr val="111827"/>
                </a:solidFill>
                <a:latin typeface="Segoe UI"/>
              </a:rPr>
              <a:t>●  Knowledge bases are LIVE — add a defect or PDF, searchable instantly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310896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6888" y="310896"/>
            <a:ext cx="102412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" y="3108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4F46E5"/>
                </a:solidFill>
                <a:latin typeface="Segoe U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" y="54864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Segoe UI"/>
              </a:rPr>
              <a:t>System Architecture — Request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64240" y="329184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15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329184"/>
            <a:ext cx="777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03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47104"/>
            <a:ext cx="11185855" cy="9525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6019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Segoe UI"/>
              </a:rPr>
              <a:t>CB L1 Support Chatbot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   ·   Technical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8286" y="2199640"/>
            <a:ext cx="1874519" cy="1234440"/>
          </a:xfrm>
          <a:prstGeom prst="roundRect">
            <a:avLst>
              <a:gd name="adj" fmla="val 12000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97486" y="2148840"/>
            <a:ext cx="1874519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606145" y="2304288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77545" y="2304288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486" y="2862072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>
                <a:solidFill>
                  <a:srgbClr val="111827"/>
                </a:solidFill>
                <a:latin typeface="Segoe UI"/>
              </a:rPr>
              <a:t>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486" y="3118104"/>
            <a:ext cx="187451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Segoe UI"/>
              </a:rPr>
              <a:t>React SPA</a:t>
            </a:r>
          </a:p>
        </p:txBody>
      </p:sp>
      <p:sp>
        <p:nvSpPr>
          <p:cNvPr id="17" name="Chevron 16"/>
          <p:cNvSpPr/>
          <p:nvPr/>
        </p:nvSpPr>
        <p:spPr>
          <a:xfrm>
            <a:off x="2772005" y="2560320"/>
            <a:ext cx="274320" cy="411480"/>
          </a:xfrm>
          <a:prstGeom prst="chevron">
            <a:avLst>
              <a:gd name="adj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078837" y="2199640"/>
            <a:ext cx="1874519" cy="1234440"/>
          </a:xfrm>
          <a:prstGeom prst="roundRect">
            <a:avLst>
              <a:gd name="adj" fmla="val 12000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028037" y="2148840"/>
            <a:ext cx="1874519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736696" y="2304288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08096" y="2304288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28037" y="2862072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>
                <a:solidFill>
                  <a:srgbClr val="111827"/>
                </a:solidFill>
                <a:latin typeface="Segoe UI"/>
              </a:rPr>
              <a:t>FastAPI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28037" y="3118104"/>
            <a:ext cx="187451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Segoe UI"/>
              </a:rPr>
              <a:t>Intent routing</a:t>
            </a:r>
          </a:p>
        </p:txBody>
      </p:sp>
      <p:sp>
        <p:nvSpPr>
          <p:cNvPr id="24" name="Chevron 23"/>
          <p:cNvSpPr/>
          <p:nvPr/>
        </p:nvSpPr>
        <p:spPr>
          <a:xfrm>
            <a:off x="4902556" y="2560320"/>
            <a:ext cx="274320" cy="411480"/>
          </a:xfrm>
          <a:prstGeom prst="chevron">
            <a:avLst>
              <a:gd name="adj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209388" y="2199640"/>
            <a:ext cx="1874519" cy="1234440"/>
          </a:xfrm>
          <a:prstGeom prst="roundRect">
            <a:avLst>
              <a:gd name="adj" fmla="val 12000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58588" y="2148840"/>
            <a:ext cx="1874519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867247" y="2304288"/>
            <a:ext cx="457200" cy="457200"/>
          </a:xfrm>
          <a:prstGeom prst="ellipse">
            <a:avLst/>
          </a:prstGeom>
          <a:solidFill>
            <a:srgbClr val="372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38647" y="2304288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58588" y="2862072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>
                <a:solidFill>
                  <a:srgbClr val="111827"/>
                </a:solidFill>
                <a:latin typeface="Segoe UI"/>
              </a:rPr>
              <a:t>Retrieval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58588" y="3118104"/>
            <a:ext cx="187451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Segoe UI"/>
              </a:rPr>
              <a:t>Qdrant hybrid</a:t>
            </a:r>
          </a:p>
        </p:txBody>
      </p:sp>
      <p:sp>
        <p:nvSpPr>
          <p:cNvPr id="31" name="Chevron 30"/>
          <p:cNvSpPr/>
          <p:nvPr/>
        </p:nvSpPr>
        <p:spPr>
          <a:xfrm>
            <a:off x="7033107" y="2560320"/>
            <a:ext cx="274320" cy="411480"/>
          </a:xfrm>
          <a:prstGeom prst="chevron">
            <a:avLst>
              <a:gd name="adj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339939" y="2199640"/>
            <a:ext cx="1874519" cy="1234440"/>
          </a:xfrm>
          <a:prstGeom prst="roundRect">
            <a:avLst>
              <a:gd name="adj" fmla="val 12000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289139" y="2148840"/>
            <a:ext cx="1874519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997798" y="2304288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69198" y="2304288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89139" y="2862072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>
                <a:solidFill>
                  <a:srgbClr val="111827"/>
                </a:solidFill>
                <a:latin typeface="Segoe UI"/>
              </a:rPr>
              <a:t>LLM Synth.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89139" y="3118104"/>
            <a:ext cx="187451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Segoe UI"/>
              </a:rPr>
              <a:t>Cited answer</a:t>
            </a:r>
          </a:p>
        </p:txBody>
      </p:sp>
      <p:sp>
        <p:nvSpPr>
          <p:cNvPr id="38" name="Chevron 37"/>
          <p:cNvSpPr/>
          <p:nvPr/>
        </p:nvSpPr>
        <p:spPr>
          <a:xfrm>
            <a:off x="9163658" y="2560320"/>
            <a:ext cx="274320" cy="411480"/>
          </a:xfrm>
          <a:prstGeom prst="chevron">
            <a:avLst>
              <a:gd name="adj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470490" y="2199640"/>
            <a:ext cx="1874519" cy="1234440"/>
          </a:xfrm>
          <a:prstGeom prst="roundRect">
            <a:avLst>
              <a:gd name="adj" fmla="val 12000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9419690" y="2148840"/>
            <a:ext cx="1874519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0128349" y="230428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899749" y="2304288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9690" y="2862072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>
                <a:solidFill>
                  <a:srgbClr val="111827"/>
                </a:solidFill>
                <a:latin typeface="Segoe UI"/>
              </a:rPr>
              <a:t>Streamed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9690" y="3118104"/>
            <a:ext cx="187451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475569"/>
                </a:solidFill>
                <a:latin typeface="Segoe UI"/>
              </a:rPr>
              <a:t>SSE to UI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3794760"/>
            <a:ext cx="111858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50" b="0">
                <a:solidFill>
                  <a:srgbClr val="111827"/>
                </a:solidFill>
                <a:latin typeface="Segoe UI"/>
              </a:rPr>
              <a:t>●  Two Qdrant collections on one cluster — "defect" (Jira history) and "chatbot" (documentation)</a:t>
            </a:r>
          </a:p>
          <a:p>
            <a:pPr>
              <a:spcAft>
                <a:spcPts val="1000"/>
              </a:spcAft>
            </a:pPr>
            <a:r>
              <a:rPr sz="1450" b="0">
                <a:solidFill>
                  <a:srgbClr val="111827"/>
                </a:solidFill>
                <a:latin typeface="Segoe UI"/>
              </a:rPr>
              <a:t>●  LLM providers are pluggable — GitHub Models / Azure OpenAI / GitHub Copilot API via one config switch</a:t>
            </a:r>
          </a:p>
          <a:p>
            <a:pPr>
              <a:spcAft>
                <a:spcPts val="1000"/>
              </a:spcAft>
            </a:pPr>
            <a:r>
              <a:rPr sz="1450" b="0">
                <a:solidFill>
                  <a:srgbClr val="111827"/>
                </a:solidFill>
                <a:latin typeface="Segoe UI"/>
              </a:rPr>
              <a:t>●  Frontend and API are served by the SAME FastAPI process — single origin, zero CORS complexity</a:t>
            </a:r>
          </a:p>
          <a:p>
            <a:pPr>
              <a:spcAft>
                <a:spcPts val="1000"/>
              </a:spcAft>
            </a:pPr>
            <a:r>
              <a:rPr sz="1450" b="0">
                <a:solidFill>
                  <a:srgbClr val="111827"/>
                </a:solidFill>
                <a:latin typeface="Segoe UI"/>
              </a:rPr>
              <a:t>●  Jira Cloud REST API v3 is the live source for on-demand defect ingestion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310896"/>
            <a:ext cx="512064" cy="512064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6888" y="310896"/>
            <a:ext cx="102412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" y="3108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6B6D4"/>
                </a:solidFill>
                <a:latin typeface="Segoe UI"/>
              </a:rPr>
              <a:t>KNOWLEDGE BASES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" y="54864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Segoe UI"/>
              </a:rPr>
              <a:t>Two Qdrant Collections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64240" y="329184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15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329184"/>
            <a:ext cx="777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04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47104"/>
            <a:ext cx="11185855" cy="9525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6019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Segoe UI"/>
              </a:rPr>
              <a:t>CB L1 Support Chatbot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   ·   Technical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720" y="1513840"/>
            <a:ext cx="5440680" cy="4709160"/>
          </a:xfrm>
          <a:prstGeom prst="roundRect">
            <a:avLst>
              <a:gd name="adj" fmla="val 5000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1463040"/>
            <a:ext cx="5440680" cy="4709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08660" y="1668780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668780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1719072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11827"/>
                </a:solidFill>
                <a:latin typeface="Segoe UI"/>
              </a:rPr>
              <a:t>"defect" collection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514600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Segoe UI"/>
              </a:rPr>
              <a:t>Content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2514600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Segoe UI"/>
              </a:rPr>
              <a:t>Historical Jira defects — root cause, fix, comments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118104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Segoe UI"/>
              </a:rPr>
              <a:t>Populated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118104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Segoe UI"/>
              </a:rPr>
              <a:t>Offline build + on-demand Add Defect (key/JQL)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721608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Segoe UI"/>
              </a:rPr>
              <a:t>Chunking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721608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Segoe UI"/>
              </a:rPr>
              <a:t>5 types/defect (problem, cause, fix, comment, context)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325112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Segoe UI"/>
              </a:rPr>
              <a:t>Retrieval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325112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Segoe UI"/>
              </a:rPr>
              <a:t>Hybrid: semantic + full-text + metadata + 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928616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Segoe UI"/>
              </a:rPr>
              <a:t>Lookup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4928616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Segoe UI"/>
              </a:rPr>
              <a:t>Exact Jira key overrides search (e.g. HCBS-95506)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14440" y="1513840"/>
            <a:ext cx="5440680" cy="4709160"/>
          </a:xfrm>
          <a:prstGeom prst="roundRect">
            <a:avLst>
              <a:gd name="adj" fmla="val 5000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263640" y="1463040"/>
            <a:ext cx="5440680" cy="4709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469380" y="1668780"/>
            <a:ext cx="502920" cy="50292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0" y="1668780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1719072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11827"/>
                </a:solidFill>
                <a:latin typeface="Segoe UI"/>
              </a:rPr>
              <a:t>"chatbot" collection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2514600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Segoe UI"/>
              </a:rPr>
              <a:t>Content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2514600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Segoe UI"/>
              </a:rPr>
              <a:t>Product documentation — PDF text + tables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3118104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Segoe UI"/>
              </a:rPr>
              <a:t>Populated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3118104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Segoe UI"/>
              </a:rPr>
              <a:t>Offline build + on-demand PDF upload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21608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Segoe UI"/>
              </a:rPr>
              <a:t>Chunking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3721608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Segoe UI"/>
              </a:rPr>
              <a:t>Section-aware text + table rows/fragments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4325112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Segoe UI"/>
              </a:rPr>
              <a:t>Retrieval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4325112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Segoe UI"/>
              </a:rPr>
              <a:t>Semantic top-K + ±1 neighbor table context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4928616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Segoe UI"/>
              </a:rPr>
              <a:t>Lookup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2440" y="4928616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Segoe UI"/>
              </a:rPr>
              <a:t>N/A — no key-based equivalent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310896"/>
            <a:ext cx="512064" cy="512064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6888" y="310896"/>
            <a:ext cx="102412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" y="3108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6B6D4"/>
                </a:solidFill>
                <a:latin typeface="Segoe UI"/>
              </a:rPr>
              <a:t>KNOWLEDGE BASES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" y="54864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Segoe UI"/>
              </a:rPr>
              <a:t>Hybrid Defect Retrieval Scoring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64240" y="329184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15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329184"/>
            <a:ext cx="777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05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47104"/>
            <a:ext cx="11185855" cy="9525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6019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Segoe UI"/>
              </a:rPr>
              <a:t>CB L1 Support Chatbot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   ·   Technical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600200"/>
            <a:ext cx="5033634" cy="5669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600200"/>
            <a:ext cx="503363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45%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36554" y="1600200"/>
            <a:ext cx="2796463" cy="5669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36554" y="1600200"/>
            <a:ext cx="2796463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25%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33017" y="1600200"/>
            <a:ext cx="1677878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3017" y="1600200"/>
            <a:ext cx="167787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15%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10895" y="1600200"/>
            <a:ext cx="111858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10895" y="1600200"/>
            <a:ext cx="111858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10%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129480" y="1600200"/>
            <a:ext cx="559292" cy="56692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02920" y="2331720"/>
            <a:ext cx="164592" cy="16459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" y="230428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11827"/>
                </a:solidFill>
                <a:latin typeface="Segoe UI"/>
              </a:rPr>
              <a:t>Semantic 45%</a:t>
            </a:r>
          </a:p>
        </p:txBody>
      </p:sp>
      <p:sp>
        <p:nvSpPr>
          <p:cNvPr id="22" name="Oval 21"/>
          <p:cNvSpPr/>
          <p:nvPr/>
        </p:nvSpPr>
        <p:spPr>
          <a:xfrm>
            <a:off x="2651760" y="2331720"/>
            <a:ext cx="164592" cy="164592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889504" y="230428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11827"/>
                </a:solidFill>
                <a:latin typeface="Segoe UI"/>
              </a:rPr>
              <a:t>Keyword 25%</a:t>
            </a:r>
          </a:p>
        </p:txBody>
      </p:sp>
      <p:sp>
        <p:nvSpPr>
          <p:cNvPr id="24" name="Oval 23"/>
          <p:cNvSpPr/>
          <p:nvPr/>
        </p:nvSpPr>
        <p:spPr>
          <a:xfrm>
            <a:off x="4800600" y="2331720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38344" y="230428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11827"/>
                </a:solidFill>
                <a:latin typeface="Segoe UI"/>
              </a:rPr>
              <a:t>Metadata 15%</a:t>
            </a:r>
          </a:p>
        </p:txBody>
      </p:sp>
      <p:sp>
        <p:nvSpPr>
          <p:cNvPr id="26" name="Oval 25"/>
          <p:cNvSpPr/>
          <p:nvPr/>
        </p:nvSpPr>
        <p:spPr>
          <a:xfrm>
            <a:off x="6949440" y="2331720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87184" y="230428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11827"/>
                </a:solidFill>
                <a:latin typeface="Segoe UI"/>
              </a:rPr>
              <a:t>Quality 10%</a:t>
            </a:r>
          </a:p>
        </p:txBody>
      </p:sp>
      <p:sp>
        <p:nvSpPr>
          <p:cNvPr id="28" name="Oval 27"/>
          <p:cNvSpPr/>
          <p:nvPr/>
        </p:nvSpPr>
        <p:spPr>
          <a:xfrm>
            <a:off x="9098280" y="2331720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36024" y="230428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11827"/>
                </a:solidFill>
                <a:latin typeface="Segoe UI"/>
              </a:rPr>
              <a:t>Fixed-boost 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2880360"/>
            <a:ext cx="111858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0">
                <a:solidFill>
                  <a:srgbClr val="111827"/>
                </a:solidFill>
                <a:latin typeface="Segoe UI"/>
              </a:rPr>
              <a:t>●  Semantic — Qdrant cosine similarity on the embedding vector, top-60 candidates</a:t>
            </a:r>
          </a:p>
          <a:p>
            <a:pPr>
              <a:spcAft>
                <a:spcPts val="700"/>
              </a:spcAft>
            </a:pPr>
            <a:r>
              <a:rPr sz="1350" b="0">
                <a:solidFill>
                  <a:srgbClr val="111827"/>
                </a:solidFill>
                <a:latin typeface="Segoe UI"/>
              </a:rPr>
              <a:t>●  Keyword — Qdrant full-text index + in-memory BM25-style re-score for exact-term matches</a:t>
            </a:r>
          </a:p>
          <a:p>
            <a:pPr>
              <a:spcAft>
                <a:spcPts val="700"/>
              </a:spcAft>
            </a:pPr>
            <a:r>
              <a:rPr sz="1350" b="0">
                <a:solidFill>
                  <a:srgbClr val="111827"/>
                </a:solidFill>
                <a:latin typeface="Segoe UI"/>
              </a:rPr>
              <a:t>●  Metadata — bonus for matching components, labels, fix pattern, team</a:t>
            </a:r>
          </a:p>
          <a:p>
            <a:pPr>
              <a:spcAft>
                <a:spcPts val="700"/>
              </a:spcAft>
            </a:pPr>
            <a:r>
              <a:rPr sz="1350" b="0">
                <a:solidFill>
                  <a:srgbClr val="111827"/>
                </a:solidFill>
                <a:latin typeface="Segoe UI"/>
              </a:rPr>
              <a:t>●  Quality — bonus for richer, higher-confidence extracted defects</a:t>
            </a:r>
          </a:p>
          <a:p>
            <a:pPr>
              <a:spcAft>
                <a:spcPts val="700"/>
              </a:spcAft>
            </a:pPr>
            <a:r>
              <a:rPr sz="1350" b="0">
                <a:solidFill>
                  <a:srgbClr val="111827"/>
                </a:solidFill>
                <a:latin typeface="Segoe UI"/>
              </a:rPr>
              <a:t>●  Fixed-boost — promotes confirmed-fixed defects; demotes cancelled ones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3720" y="5400040"/>
            <a:ext cx="11185855" cy="822960"/>
          </a:xfrm>
          <a:prstGeom prst="roundRect">
            <a:avLst>
              <a:gd name="adj" fmla="val 10000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02920" y="5349240"/>
            <a:ext cx="11185855" cy="822960"/>
          </a:xfrm>
          <a:prstGeom prst="roundRect">
            <a:avLst>
              <a:gd name="adj" fmla="val 10000"/>
            </a:avLst>
          </a:prstGeom>
          <a:solidFill>
            <a:srgbClr val="FFF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58952" y="5559552"/>
            <a:ext cx="402336" cy="40233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57784" y="5559552"/>
            <a:ext cx="80467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5468112"/>
            <a:ext cx="10180015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Segoe UI"/>
              </a:rPr>
              <a:t>Semantic-only search caused a measurable precision drop in testing — the keyword signal (Qdrant full-text) restored accuracy while staying fully live-updatable.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72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310896"/>
            <a:ext cx="512064" cy="512064"/>
          </a:xfrm>
          <a:prstGeom prst="ellipse">
            <a:avLst/>
          </a:prstGeom>
          <a:solidFill>
            <a:srgbClr val="372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6888" y="310896"/>
            <a:ext cx="102412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{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" y="3108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372FA8"/>
                </a:solidFill>
                <a:latin typeface="Segoe UI"/>
              </a:rP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" y="54864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Segoe UI"/>
              </a:rPr>
              <a:t>Core Config, LLM Provider &amp; API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64240" y="329184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15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329184"/>
            <a:ext cx="777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06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47104"/>
            <a:ext cx="11185855" cy="9525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6019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Segoe UI"/>
              </a:rPr>
              <a:t>CB L1 Support Chatbot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   ·   Technical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63040"/>
            <a:ext cx="11185855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" y="1463040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372FA8"/>
                </a:solidFill>
                <a:latin typeface="Segoe UI"/>
              </a:rPr>
              <a:t>config.py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463040"/>
            <a:ext cx="816833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Single source of truth for ALL env vars: Jira, Qdrant, LLM provider, retrieval tuning, feature flags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080768"/>
            <a:ext cx="11185855" cy="566928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" y="2080768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372FA8"/>
                </a:solidFill>
                <a:latin typeface="Segoe UI"/>
              </a:rPr>
              <a:t>llm_provider.py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080768"/>
            <a:ext cx="816833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Provider-agnostic LLM abstraction — switches Azure / GitHub Models / Copilot via LLM_PROVIDER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698496"/>
            <a:ext cx="11185855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" y="2698496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372FA8"/>
                </a:solidFill>
                <a:latin typeface="Segoe UI"/>
              </a:rPr>
              <a:t>run_chatbot.py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2698496"/>
            <a:ext cx="816833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CLI entry point: --build (offline KB build), --serve (start API), --ask (one-off query)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316224"/>
            <a:ext cx="11185855" cy="566928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4088" y="3316224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372FA8"/>
                </a:solidFill>
                <a:latin typeface="Segoe UI"/>
              </a:rPr>
              <a:t>api/app.py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3316224"/>
            <a:ext cx="816833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FastAPI app factory — mounts built SPA, includes routes, pre-warms Qdrant/LLM on startup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933952"/>
            <a:ext cx="11185855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" y="3933952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372FA8"/>
                </a:solidFill>
                <a:latin typeface="Segoe UI"/>
              </a:rPr>
              <a:t>api/routes.py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3933952"/>
            <a:ext cx="816833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All HTTP endpoints: /health, /api/ask(/stream), /api/rag/ingest(/stream), /api/defects/add(-jql)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72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310896"/>
            <a:ext cx="512064" cy="512064"/>
          </a:xfrm>
          <a:prstGeom prst="ellipse">
            <a:avLst/>
          </a:prstGeom>
          <a:solidFill>
            <a:srgbClr val="372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6888" y="310896"/>
            <a:ext cx="102412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{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" y="3108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372FA8"/>
                </a:solidFill>
                <a:latin typeface="Segoe UI"/>
              </a:rP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" y="54864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Segoe UI"/>
              </a:rPr>
              <a:t>Chatbot Core Pipeline (chatbot/)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64240" y="329184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15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329184"/>
            <a:ext cx="777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07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47104"/>
            <a:ext cx="11185855" cy="9525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6019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Segoe UI"/>
              </a:rPr>
              <a:t>CB L1 Support Chatbot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   ·   Technical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11185855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" y="1417320"/>
            <a:ext cx="24688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372FA8"/>
                </a:solidFill>
                <a:latin typeface="Segoe UI"/>
              </a:rPr>
              <a:t>schemas.py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417320"/>
            <a:ext cx="816833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DefectRecord dataclass + shared constants (fix patterns, chunk types)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980184"/>
            <a:ext cx="11185855" cy="512064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" y="1980184"/>
            <a:ext cx="24688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372FA8"/>
                </a:solidFill>
                <a:latin typeface="Segoe UI"/>
              </a:rPr>
              <a:t>intent_router.py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1980184"/>
            <a:ext cx="816833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Rule-based classifier: defect-by-key / diagnostic / similar-defects / general help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543048"/>
            <a:ext cx="11185855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" y="2543048"/>
            <a:ext cx="24688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372FA8"/>
                </a:solidFill>
                <a:latin typeface="Segoe UI"/>
              </a:rPr>
              <a:t>prompts.py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2543048"/>
            <a:ext cx="816833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LLM prompt templates enforcing evidence-grounded, cited, structured answers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105912"/>
            <a:ext cx="11185855" cy="512064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4088" y="3105912"/>
            <a:ext cx="24688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372FA8"/>
                </a:solidFill>
                <a:latin typeface="Segoe UI"/>
              </a:rPr>
              <a:t>answer_generator.py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3105912"/>
            <a:ext cx="816833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Synthesizes retrieved evidence into an answer via LLM, with deterministic fallback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668776"/>
            <a:ext cx="11185855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" y="3668776"/>
            <a:ext cx="24688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372FA8"/>
                </a:solidFill>
                <a:latin typeface="Segoe UI"/>
              </a:rPr>
              <a:t>retriever.py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3668776"/>
            <a:ext cx="816833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Hybrid retriever — Qdrant semantic + keyword + metadata + quality scoring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231640"/>
            <a:ext cx="11185855" cy="512064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4088" y="4231640"/>
            <a:ext cx="24688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372FA8"/>
                </a:solidFill>
                <a:latin typeface="Segoe UI"/>
              </a:rPr>
              <a:t>defect_qa.py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4231640"/>
            <a:ext cx="816833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Top-level orchestrator: routes intent, retrieves evidence, calls doc-RAG, streams answer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794504"/>
            <a:ext cx="11185855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4088" y="4794504"/>
            <a:ext cx="24688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372FA8"/>
                </a:solidFill>
                <a:latin typeface="Segoe UI"/>
              </a:rPr>
              <a:t>utils.py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4794504"/>
            <a:ext cx="816833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Shared helpers — JSON I/O, Jira field shims, PII masking, key extraction, tokenization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72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310896"/>
            <a:ext cx="512064" cy="512064"/>
          </a:xfrm>
          <a:prstGeom prst="ellipse">
            <a:avLst/>
          </a:prstGeom>
          <a:solidFill>
            <a:srgbClr val="372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6888" y="310896"/>
            <a:ext cx="102412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{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" y="3108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372FA8"/>
                </a:solidFill>
                <a:latin typeface="Segoe UI"/>
              </a:rP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" y="54864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Segoe UI"/>
              </a:rPr>
              <a:t>Knowledge-Base Build &amp; On-Demand Ingestion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64240" y="329184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15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329184"/>
            <a:ext cx="777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08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47104"/>
            <a:ext cx="11185855" cy="9525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6019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Segoe UI"/>
              </a:rPr>
              <a:t>CB L1 Support Chatbot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   ·   Technical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11185855" cy="576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" y="1417320"/>
            <a:ext cx="246888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372FA8"/>
                </a:solidFill>
                <a:latin typeface="Segoe UI"/>
              </a:rPr>
              <a:t>build_knowledge_base.py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417320"/>
            <a:ext cx="8168335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Normalizes raw Jira data, extracts root cause / fix / pattern / type, masks PII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044192"/>
            <a:ext cx="11185855" cy="576072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" y="2044192"/>
            <a:ext cx="246888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372FA8"/>
                </a:solidFill>
                <a:latin typeface="Segoe UI"/>
              </a:rPr>
              <a:t>build_chunks.py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044192"/>
            <a:ext cx="8168335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Splits each defect into 5 typed chunks for embedding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671064"/>
            <a:ext cx="11185855" cy="576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" y="2671064"/>
            <a:ext cx="246888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372FA8"/>
                </a:solidFill>
                <a:latin typeface="Segoe UI"/>
              </a:rPr>
              <a:t>build_embeddings.py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2671064"/>
            <a:ext cx="8168335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Embeds all chunks (remote provider or local fallback), L2-normalizes vectors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297936"/>
            <a:ext cx="11185855" cy="576072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4088" y="3297936"/>
            <a:ext cx="246888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372FA8"/>
                </a:solidFill>
                <a:latin typeface="Segoe UI"/>
              </a:rPr>
              <a:t>migrate_defects_qdrant.py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3297936"/>
            <a:ext cx="8168335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One-time / re-sync migration of embeddings into the Qdrant "defect" collection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924808"/>
            <a:ext cx="11185855" cy="576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" y="3924808"/>
            <a:ext cx="246888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372FA8"/>
                </a:solidFill>
                <a:latin typeface="Segoe UI"/>
              </a:rPr>
              <a:t>defect_ingest.py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3924808"/>
            <a:ext cx="8168335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On-demand: fetches from Jira live (single key or bulk JQL), runs the SAME pipeline as offline build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551680"/>
            <a:ext cx="11185855" cy="576072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4088" y="4551680"/>
            <a:ext cx="246888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372FA8"/>
                </a:solidFill>
                <a:latin typeface="Segoe UI"/>
              </a:rPr>
              <a:t>defect_vector_store.py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4551680"/>
            <a:ext cx="8168335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Qdrant wrapper — semantic + full-text keyword search, idempotent upsert, delete-by-key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72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310896"/>
            <a:ext cx="512064" cy="512064"/>
          </a:xfrm>
          <a:prstGeom prst="ellipse">
            <a:avLst/>
          </a:prstGeom>
          <a:solidFill>
            <a:srgbClr val="372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6888" y="310896"/>
            <a:ext cx="102412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{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" y="3108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372FA8"/>
                </a:solidFill>
                <a:latin typeface="Segoe UI"/>
              </a:rP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" y="54864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Segoe UI"/>
              </a:rPr>
              <a:t>Documentation RAG Pipeline (rag_docs/)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64240" y="329184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15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329184"/>
            <a:ext cx="777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09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47104"/>
            <a:ext cx="11185855" cy="9525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6019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Segoe UI"/>
              </a:rPr>
              <a:t>CB L1 Support Chatbot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   ·   Technical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11185855" cy="576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" y="1417320"/>
            <a:ext cx="246888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372FA8"/>
                </a:solidFill>
                <a:latin typeface="Segoe UI"/>
              </a:rPr>
              <a:t>document_ingestor.py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417320"/>
            <a:ext cx="8168335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Segoe UI"/>
              </a:rPr>
              <a:t>Parses PDFs via LlamaParse into structured TEXT/TABLE elements with section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044192"/>
            <a:ext cx="11185855" cy="576072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" y="2044192"/>
            <a:ext cx="246888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372FA8"/>
                </a:solidFill>
                <a:latin typeface="Segoe UI"/>
              </a:rPr>
              <a:t>semantic_chunker.py / table_parser.py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044192"/>
            <a:ext cx="8168335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Segoe UI"/>
              </a:rPr>
              <a:t>Splits parsed elements into semantic chunks (text + table rows/fragments)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671064"/>
            <a:ext cx="11185855" cy="576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" y="2671064"/>
            <a:ext cx="246888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372FA8"/>
                </a:solidFill>
                <a:latin typeface="Segoe UI"/>
              </a:rPr>
              <a:t>vector_store.py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2671064"/>
            <a:ext cx="8168335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Segoe UI"/>
              </a:rPr>
              <a:t>Qdrant wrapper for the "chatbot" collection — embed, upsert, search, ±1 context expansion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297936"/>
            <a:ext cx="11185855" cy="576072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4088" y="3297936"/>
            <a:ext cx="246888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372FA8"/>
                </a:solidFill>
                <a:latin typeface="Segoe UI"/>
              </a:rPr>
              <a:t>answer_generator.py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3297936"/>
            <a:ext cx="8168335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Segoe UI"/>
              </a:rPr>
              <a:t>Formats retrieved chunks and calls the LLM for a cited answer ([Source: file.pdf, Page: X])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924808"/>
            <a:ext cx="11185855" cy="576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" y="3924808"/>
            <a:ext cx="246888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372FA8"/>
                </a:solidFill>
                <a:latin typeface="Segoe UI"/>
              </a:rPr>
              <a:t>query_processor.py / query_router.py / rag_agent.py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3924808"/>
            <a:ext cx="8168335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Segoe UI"/>
              </a:rPr>
              <a:t>Query enhancement, context routing, and pipeline coordination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551680"/>
            <a:ext cx="11185855" cy="576072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4088" y="4551680"/>
            <a:ext cx="246888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372FA8"/>
                </a:solidFill>
                <a:latin typeface="Segoe UI"/>
              </a:rPr>
              <a:t>llm_factory.py / pipeline.py / ingest.py / models.py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4551680"/>
            <a:ext cx="8168335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Segoe UI"/>
              </a:rPr>
              <a:t>RAG-scoped provider selection, cached pipeline builder, PDF ingestion entrypoint, shared models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310896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6888" y="310896"/>
            <a:ext cx="102412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" y="3108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59E0B"/>
                </a:solidFill>
                <a:latin typeface="Segoe UI"/>
              </a:rPr>
              <a:t>FEATURE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" y="54864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Segoe UI"/>
              </a:rPr>
              <a:t>Add Defect  &amp;  Upload PDF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64240" y="329184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15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329184"/>
            <a:ext cx="777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10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47104"/>
            <a:ext cx="11185855" cy="9525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6019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Segoe UI"/>
              </a:rPr>
              <a:t>CB L1 Support Chatbot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   ·   Technical Overview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1709928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8600" y="1709928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1600200"/>
            <a:ext cx="21031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  <a:latin typeface="Segoe UI"/>
              </a:rPr>
              <a:t>Add Defect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8320" y="1651000"/>
            <a:ext cx="1417320" cy="777240"/>
          </a:xfrm>
          <a:prstGeom prst="roundRect">
            <a:avLst>
              <a:gd name="adj" fmla="val 16000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017520" y="1600200"/>
            <a:ext cx="1417320" cy="7772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17520" y="1600200"/>
            <a:ext cx="14173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111827"/>
                </a:solidFill>
                <a:latin typeface="Segoe UI"/>
              </a:rPr>
              <a:t>Fetch (Jira)</a:t>
            </a:r>
          </a:p>
        </p:txBody>
      </p:sp>
      <p:sp>
        <p:nvSpPr>
          <p:cNvPr id="17" name="Chevron 16"/>
          <p:cNvSpPr/>
          <p:nvPr/>
        </p:nvSpPr>
        <p:spPr>
          <a:xfrm>
            <a:off x="4434840" y="1856232"/>
            <a:ext cx="201168" cy="274320"/>
          </a:xfrm>
          <a:prstGeom prst="chevron">
            <a:avLst>
              <a:gd name="adj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686808" y="1651000"/>
            <a:ext cx="1417320" cy="777240"/>
          </a:xfrm>
          <a:prstGeom prst="roundRect">
            <a:avLst>
              <a:gd name="adj" fmla="val 16000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636008" y="1600200"/>
            <a:ext cx="1417320" cy="7772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36008" y="1600200"/>
            <a:ext cx="14173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111827"/>
                </a:solidFill>
                <a:latin typeface="Segoe UI"/>
              </a:rPr>
              <a:t>Normalize</a:t>
            </a:r>
          </a:p>
        </p:txBody>
      </p:sp>
      <p:sp>
        <p:nvSpPr>
          <p:cNvPr id="21" name="Chevron 20"/>
          <p:cNvSpPr/>
          <p:nvPr/>
        </p:nvSpPr>
        <p:spPr>
          <a:xfrm>
            <a:off x="6053328" y="1856232"/>
            <a:ext cx="201168" cy="274320"/>
          </a:xfrm>
          <a:prstGeom prst="chevron">
            <a:avLst>
              <a:gd name="adj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05296" y="1651000"/>
            <a:ext cx="1417320" cy="777240"/>
          </a:xfrm>
          <a:prstGeom prst="roundRect">
            <a:avLst>
              <a:gd name="adj" fmla="val 16000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54496" y="1600200"/>
            <a:ext cx="1417320" cy="7772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54496" y="1600200"/>
            <a:ext cx="14173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111827"/>
                </a:solidFill>
                <a:latin typeface="Segoe UI"/>
              </a:rPr>
              <a:t>Chunk (×5)</a:t>
            </a:r>
          </a:p>
        </p:txBody>
      </p:sp>
      <p:sp>
        <p:nvSpPr>
          <p:cNvPr id="25" name="Chevron 24"/>
          <p:cNvSpPr/>
          <p:nvPr/>
        </p:nvSpPr>
        <p:spPr>
          <a:xfrm>
            <a:off x="7671816" y="1856232"/>
            <a:ext cx="201168" cy="274320"/>
          </a:xfrm>
          <a:prstGeom prst="chevron">
            <a:avLst>
              <a:gd name="adj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923784" y="1651000"/>
            <a:ext cx="1417320" cy="777240"/>
          </a:xfrm>
          <a:prstGeom prst="roundRect">
            <a:avLst>
              <a:gd name="adj" fmla="val 16000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872984" y="1600200"/>
            <a:ext cx="1417320" cy="7772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72984" y="1600200"/>
            <a:ext cx="14173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111827"/>
                </a:solidFill>
                <a:latin typeface="Segoe UI"/>
              </a:rPr>
              <a:t>Embed</a:t>
            </a:r>
          </a:p>
        </p:txBody>
      </p:sp>
      <p:sp>
        <p:nvSpPr>
          <p:cNvPr id="29" name="Chevron 28"/>
          <p:cNvSpPr/>
          <p:nvPr/>
        </p:nvSpPr>
        <p:spPr>
          <a:xfrm>
            <a:off x="9290304" y="1856232"/>
            <a:ext cx="201168" cy="274320"/>
          </a:xfrm>
          <a:prstGeom prst="chevron">
            <a:avLst>
              <a:gd name="adj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542272" y="1651000"/>
            <a:ext cx="1417320" cy="777240"/>
          </a:xfrm>
          <a:prstGeom prst="roundRect">
            <a:avLst>
              <a:gd name="adj" fmla="val 16000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491472" y="1600200"/>
            <a:ext cx="1417320" cy="7772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91472" y="1600200"/>
            <a:ext cx="14173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111827"/>
                </a:solidFill>
                <a:latin typeface="Segoe UI"/>
              </a:rPr>
              <a:t>Upsert</a:t>
            </a:r>
          </a:p>
        </p:txBody>
      </p:sp>
      <p:sp>
        <p:nvSpPr>
          <p:cNvPr id="33" name="Oval 32"/>
          <p:cNvSpPr/>
          <p:nvPr/>
        </p:nvSpPr>
        <p:spPr>
          <a:xfrm>
            <a:off x="502920" y="2898648"/>
            <a:ext cx="548640" cy="54864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28600" y="2898648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1288" y="2788920"/>
            <a:ext cx="21031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  <a:latin typeface="Segoe UI"/>
              </a:rPr>
              <a:t>Upload PDF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68320" y="2839720"/>
            <a:ext cx="1417320" cy="777240"/>
          </a:xfrm>
          <a:prstGeom prst="roundRect">
            <a:avLst>
              <a:gd name="adj" fmla="val 16000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3017520" y="2788920"/>
            <a:ext cx="1417320" cy="7772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017520" y="2788920"/>
            <a:ext cx="14173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111827"/>
                </a:solidFill>
                <a:latin typeface="Segoe UI"/>
              </a:rPr>
              <a:t>Parse</a:t>
            </a:r>
          </a:p>
        </p:txBody>
      </p:sp>
      <p:sp>
        <p:nvSpPr>
          <p:cNvPr id="39" name="Chevron 38"/>
          <p:cNvSpPr/>
          <p:nvPr/>
        </p:nvSpPr>
        <p:spPr>
          <a:xfrm>
            <a:off x="4434840" y="3044952"/>
            <a:ext cx="201168" cy="274320"/>
          </a:xfrm>
          <a:prstGeom prst="chevron">
            <a:avLst>
              <a:gd name="adj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4686808" y="2839720"/>
            <a:ext cx="1417320" cy="777240"/>
          </a:xfrm>
          <a:prstGeom prst="roundRect">
            <a:avLst>
              <a:gd name="adj" fmla="val 16000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4636008" y="2788920"/>
            <a:ext cx="1417320" cy="7772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636008" y="2788920"/>
            <a:ext cx="14173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111827"/>
                </a:solidFill>
                <a:latin typeface="Segoe UI"/>
              </a:rPr>
              <a:t>Chunk</a:t>
            </a:r>
          </a:p>
        </p:txBody>
      </p:sp>
      <p:sp>
        <p:nvSpPr>
          <p:cNvPr id="43" name="Chevron 42"/>
          <p:cNvSpPr/>
          <p:nvPr/>
        </p:nvSpPr>
        <p:spPr>
          <a:xfrm>
            <a:off x="6053328" y="3044952"/>
            <a:ext cx="201168" cy="274320"/>
          </a:xfrm>
          <a:prstGeom prst="chevron">
            <a:avLst>
              <a:gd name="adj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305296" y="2839720"/>
            <a:ext cx="1417320" cy="777240"/>
          </a:xfrm>
          <a:prstGeom prst="roundRect">
            <a:avLst>
              <a:gd name="adj" fmla="val 16000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6254496" y="2788920"/>
            <a:ext cx="1417320" cy="7772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54496" y="2788920"/>
            <a:ext cx="14173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111827"/>
                </a:solidFill>
                <a:latin typeface="Segoe UI"/>
              </a:rPr>
              <a:t>Embed</a:t>
            </a:r>
          </a:p>
        </p:txBody>
      </p:sp>
      <p:sp>
        <p:nvSpPr>
          <p:cNvPr id="47" name="Chevron 46"/>
          <p:cNvSpPr/>
          <p:nvPr/>
        </p:nvSpPr>
        <p:spPr>
          <a:xfrm>
            <a:off x="7671816" y="3044952"/>
            <a:ext cx="201168" cy="274320"/>
          </a:xfrm>
          <a:prstGeom prst="chevron">
            <a:avLst>
              <a:gd name="adj" fmla="val 55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7923784" y="2839720"/>
            <a:ext cx="1417320" cy="777240"/>
          </a:xfrm>
          <a:prstGeom prst="roundRect">
            <a:avLst>
              <a:gd name="adj" fmla="val 16000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7872984" y="2788920"/>
            <a:ext cx="1417320" cy="7772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872984" y="2788920"/>
            <a:ext cx="14173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111827"/>
                </a:solidFill>
                <a:latin typeface="Segoe UI"/>
              </a:rPr>
              <a:t>Upsert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53720" y="4211320"/>
            <a:ext cx="11185855" cy="1965960"/>
          </a:xfrm>
          <a:prstGeom prst="roundRect">
            <a:avLst>
              <a:gd name="adj" fmla="val 5000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02920" y="4160520"/>
            <a:ext cx="11185855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22960" y="438912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0">
                <a:solidFill>
                  <a:srgbClr val="111827"/>
                </a:solidFill>
                <a:latin typeface="Segoe UI"/>
              </a:rPr>
              <a:t>●  Single Jira key OR bulk JQL query (capped at 200 issues/run) — same normalization pipeline as offline build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11827"/>
                </a:solidFill>
                <a:latin typeface="Segoe UI"/>
              </a:rPr>
              <a:t>●  Live SSE progress streamed to the UI at every stage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11827"/>
                </a:solidFill>
                <a:latin typeface="Segoe UI"/>
              </a:rPr>
              <a:t>●  PDF upload keeps section headings + table structure; re-uploading the same file overwrites, never duplicates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372FA8"/>
                </a:solidFill>
                <a:latin typeface="Segoe UI"/>
              </a:rPr>
              <a:t>●  Both features update the in-memory retriever instantly — searchable on the very next question, no restart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310896"/>
            <a:ext cx="512064" cy="512064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6888" y="310896"/>
            <a:ext cx="102412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" y="3108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6B6D4"/>
                </a:solidFill>
                <a:latin typeface="Segoe UI"/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" y="54864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Segoe UI"/>
              </a:rPr>
              <a:t>App Shell, Routing &amp; Pages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64240" y="329184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15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329184"/>
            <a:ext cx="777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11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47104"/>
            <a:ext cx="11185855" cy="9525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6019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Segoe UI"/>
              </a:rPr>
              <a:t>CB L1 Support Chatbot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   ·   Technical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63040"/>
            <a:ext cx="11185855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" y="1463040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372FA8"/>
                </a:solidFill>
                <a:latin typeface="Segoe UI"/>
              </a:rPr>
              <a:t>main.tsx / App.tsx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463040"/>
            <a:ext cx="816833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Entry point; wraps app in QueryClient / Theme / Router / Chat providers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080768"/>
            <a:ext cx="11185855" cy="566928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" y="2080768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372FA8"/>
                </a:solidFill>
                <a:latin typeface="Segoe UI"/>
              </a:rPr>
              <a:t>routes/AppRoutes.tsx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080768"/>
            <a:ext cx="816833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Lazy routes: "/" → Landing, "/chat" → Chat, animated transitions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698496"/>
            <a:ext cx="11185855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" y="2698496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372FA8"/>
                </a:solidFill>
                <a:latin typeface="Segoe UI"/>
              </a:rPr>
              <a:t>layouts/ChatLayout.tsx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2698496"/>
            <a:ext cx="816833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Responsive shell — collapsible sidebar (desktop) / drawer (mobile) + header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316224"/>
            <a:ext cx="11185855" cy="566928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4088" y="3316224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372FA8"/>
                </a:solidFill>
                <a:latin typeface="Segoe UI"/>
              </a:rPr>
              <a:t>pages/ChatPage.tsx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3316224"/>
            <a:ext cx="816833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Wraps ChatLayout + ChatWindow — the main chat screen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933952"/>
            <a:ext cx="11185855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" y="3933952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372FA8"/>
                </a:solidFill>
                <a:latin typeface="Segoe UI"/>
              </a:rPr>
              <a:t>pages/LandingPage.tsx + landing/*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3933952"/>
            <a:ext cx="816833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Public marketing page (Hero, Features, HowItWorks, Footer, etc.)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310896"/>
            <a:ext cx="512064" cy="512064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6888" y="310896"/>
            <a:ext cx="102412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" y="3108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6B6D4"/>
                </a:solidFill>
                <a:latin typeface="Segoe UI"/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" y="54864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Segoe UI"/>
              </a:rPr>
              <a:t>Chat Components (components/chat/)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64240" y="329184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15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329184"/>
            <a:ext cx="777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12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47104"/>
            <a:ext cx="11185855" cy="9525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6019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Segoe UI"/>
              </a:rPr>
              <a:t>CB L1 Support Chatbot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   ·   Technical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11185855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" y="1417320"/>
            <a:ext cx="24688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372FA8"/>
                </a:solidFill>
                <a:latin typeface="Segoe UI"/>
              </a:rPr>
              <a:t>ChatWindow / MessageList / MessageBubble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417320"/>
            <a:ext cx="8168335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Message container, scrollable list, individual bubble with copy/regenerate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998472"/>
            <a:ext cx="11185855" cy="530352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" y="1998472"/>
            <a:ext cx="24688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372FA8"/>
                </a:solidFill>
                <a:latin typeface="Segoe UI"/>
              </a:rPr>
              <a:t>ChatInput.tsx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1998472"/>
            <a:ext cx="8168335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Auto-resizing input, 2000-char limit, send/stop, keyboard shortcuts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579624"/>
            <a:ext cx="11185855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" y="2579624"/>
            <a:ext cx="24688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372FA8"/>
                </a:solidFill>
                <a:latin typeface="Segoe UI"/>
              </a:rPr>
              <a:t>OptionsCard.tsx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2579624"/>
            <a:ext cx="8168335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Lets user pick answer sections (root cause / resolve / similar)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160776"/>
            <a:ext cx="11185855" cy="530352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4088" y="3160776"/>
            <a:ext cx="24688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372FA8"/>
                </a:solidFill>
                <a:latin typeface="Segoe UI"/>
              </a:rPr>
              <a:t>SourcesPanel.tsx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3160776"/>
            <a:ext cx="8168335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Collapsible panel of similar defects with status badges &amp; relevance scores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741928"/>
            <a:ext cx="11185855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" y="3741928"/>
            <a:ext cx="24688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372FA8"/>
                </a:solidFill>
                <a:latin typeface="Segoe UI"/>
              </a:rPr>
              <a:t>Markdown.tsx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3741928"/>
            <a:ext cx="8168335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Renders answer markdown with code/table formatting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323080"/>
            <a:ext cx="11185855" cy="530352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4088" y="4323080"/>
            <a:ext cx="24688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372FA8"/>
                </a:solidFill>
                <a:latin typeface="Segoe UI"/>
              </a:rPr>
              <a:t>TypingIndicator.tsx / EmptyState.tsx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4323080"/>
            <a:ext cx="8168335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Streaming animation; first-run welcome screen with example prompts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310896"/>
            <a:ext cx="512064" cy="512064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6888" y="310896"/>
            <a:ext cx="102412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" y="3108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6B6D4"/>
                </a:solidFill>
                <a:latin typeface="Segoe UI"/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" y="54864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Segoe UI"/>
              </a:rPr>
              <a:t>Header, Global State, Services &amp; Types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64240" y="329184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15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329184"/>
            <a:ext cx="777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13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47104"/>
            <a:ext cx="11185855" cy="9525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6019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Segoe UI"/>
              </a:rPr>
              <a:t>CB L1 Support Chatbot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   ·   Technical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11185855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" y="1417320"/>
            <a:ext cx="24688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372FA8"/>
                </a:solidFill>
                <a:latin typeface="Segoe UI"/>
              </a:rPr>
              <a:t>components/layout/Header.tsx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417320"/>
            <a:ext cx="8168335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Connection badge, theme toggle, Upload PDF button, Add Defect popover (key/JQL modes)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998472"/>
            <a:ext cx="11185855" cy="530352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" y="1998472"/>
            <a:ext cx="24688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372FA8"/>
                </a:solidFill>
                <a:latin typeface="Segoe UI"/>
              </a:rPr>
              <a:t>components/layout/Sidebar.tsx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1998472"/>
            <a:ext cx="8168335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Conversation list — new/delete/pin/search, persisted to localStorage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579624"/>
            <a:ext cx="11185855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" y="2579624"/>
            <a:ext cx="24688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372FA8"/>
                </a:solidFill>
                <a:latin typeface="Segoe UI"/>
              </a:rPr>
              <a:t>features/chat/ChatProvider.tsx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2579624"/>
            <a:ext cx="8168335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Global chat state — conversations, streaming, send/regenerate/stop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160776"/>
            <a:ext cx="11185855" cy="530352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4088" y="3160776"/>
            <a:ext cx="24688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372FA8"/>
                </a:solidFill>
                <a:latin typeface="Segoe UI"/>
              </a:rPr>
              <a:t>services/api.ts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3160776"/>
            <a:ext cx="8168335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HTTP client for every backend endpoint incl. SSE streaming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741928"/>
            <a:ext cx="11185855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" y="3741928"/>
            <a:ext cx="24688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372FA8"/>
                </a:solidFill>
                <a:latin typeface="Segoe UI"/>
              </a:rPr>
              <a:t>types/index.ts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3741928"/>
            <a:ext cx="8168335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TypeScript contracts mirroring the FastAPI backend exactly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323080"/>
            <a:ext cx="11185855" cy="530352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4088" y="4323080"/>
            <a:ext cx="24688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372FA8"/>
                </a:solidFill>
                <a:latin typeface="Segoe UI"/>
              </a:rPr>
              <a:t>hooks/, contexts/, utils/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4323080"/>
            <a:ext cx="8168335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Health polling, clipboard, responsive breakpoints, theme, formatting, storage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310896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6888" y="310896"/>
            <a:ext cx="102412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" y="3108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4F46E5"/>
                </a:solidFill>
                <a:latin typeface="Segoe UI"/>
              </a:rPr>
              <a:t>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" y="54864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Segoe UI"/>
              </a:rPr>
              <a:t>Environment Variables &amp; Secrets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64240" y="329184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15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329184"/>
            <a:ext cx="777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14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47104"/>
            <a:ext cx="11185855" cy="9525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6019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Segoe UI"/>
              </a:rPr>
              <a:t>CB L1 Support Chatbot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   ·   Technical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11185855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" y="1417320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372FA8"/>
                </a:solidFill>
                <a:latin typeface="Segoe UI"/>
              </a:rPr>
              <a:t>Qdrant (required)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417320"/>
            <a:ext cx="816833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QDRANT_URL, QDRANT_API_KEY, DEFECT_QDRANT_COLLECTION, QDRANT_COLLECTION, DEFECT_VECTOR_DIM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035048"/>
            <a:ext cx="11185855" cy="566928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" y="2035048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372FA8"/>
                </a:solidFill>
                <a:latin typeface="Segoe UI"/>
              </a:rPr>
              <a:t>Jira (required for ingestion)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035048"/>
            <a:ext cx="816833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JIRA_URL, JIRA_USERNAME, JIRA_API_TOKEN, JIRA_BASE_URL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652776"/>
            <a:ext cx="11185855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" y="2652776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372FA8"/>
                </a:solidFill>
                <a:latin typeface="Segoe UI"/>
              </a:rPr>
              <a:t>LLM provider switch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2652776"/>
            <a:ext cx="816833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LLM_PROVIDER, EMBED_PROVIDER, RAG_LLM_PROVIDER, RAG_EMBED_PROVIDER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270504"/>
            <a:ext cx="11185855" cy="566928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4088" y="3270504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372FA8"/>
                </a:solidFill>
                <a:latin typeface="Segoe UI"/>
              </a:rPr>
              <a:t>Provider credentials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3270504"/>
            <a:ext cx="816833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AZURE_OPENAI_*  /  GITHUB_TOKEN  /  COPILOT_TOKEN, COPILOT_API_ENDPOINT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888232"/>
            <a:ext cx="11185855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" y="3888232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372FA8"/>
                </a:solidFill>
                <a:latin typeface="Segoe UI"/>
              </a:rPr>
              <a:t>LlamaParse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3888232"/>
            <a:ext cx="816833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LLAMA_CLOUD_API_KEY (PDF ingestion)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505960"/>
            <a:ext cx="11185855" cy="566928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4088" y="4505960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372FA8"/>
                </a:solidFill>
                <a:latin typeface="Segoe UI"/>
              </a:rPr>
              <a:t>Retrieval tuning &amp; flags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4505960"/>
            <a:ext cx="816833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TOP_K_RESULTS, RELEVANCE_MIN_SCORE, USE_LLM, USE_RAG_DOCS, MASK_SENSITIVE_DATA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123688"/>
            <a:ext cx="11185855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4088" y="5123688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372FA8"/>
                </a:solidFill>
                <a:latin typeface="Segoe UI"/>
              </a:rPr>
              <a:t>Ingestion limits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5123688"/>
            <a:ext cx="816833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JQL_ADD_MAX_RESULTS (200), RAG_INGEST_MAX_MB (20)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31089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6888" y="310896"/>
            <a:ext cx="102412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" y="3108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0B981"/>
                </a:solidFill>
                <a:latin typeface="Segoe UI"/>
              </a:rPr>
              <a:t>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" y="54864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Segoe UI"/>
              </a:rPr>
              <a:t>Packaging &amp; Deployment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64240" y="329184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15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329184"/>
            <a:ext cx="777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15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47104"/>
            <a:ext cx="11185855" cy="9525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6019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Segoe UI"/>
              </a:rPr>
              <a:t>CB L1 Support Chatbot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   ·   Technical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720" y="146812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141732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16002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1618488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11827"/>
                </a:solidFill>
                <a:latin typeface="Segoe UI"/>
              </a:rPr>
              <a:t>Docker (multi-stage)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286000"/>
            <a:ext cx="4800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11827"/>
                </a:solidFill>
                <a:latin typeface="Segoe UI"/>
              </a:rPr>
              <a:t>●  Stage 1 (Node 20) builds the React SPA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11827"/>
                </a:solidFill>
                <a:latin typeface="Segoe UI"/>
              </a:rPr>
              <a:t>●  Stage 2 (Python 3.12-slim) serves API + SPA on one 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14440" y="146812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63640" y="141732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92240" y="160020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16002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1618488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111827"/>
                </a:solidFill>
                <a:latin typeface="Segoe UI"/>
              </a:rPr>
              <a:t>Render (native Python)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286000"/>
            <a:ext cx="4800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11827"/>
                </a:solidFill>
                <a:latin typeface="Segoe UI"/>
              </a:rPr>
              <a:t>●  Free tier, no payment card required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11827"/>
                </a:solidFill>
                <a:latin typeface="Segoe UI"/>
              </a:rPr>
              <a:t>●  Frontend pre-built locally &amp; committed to git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794760"/>
            <a:ext cx="11185855" cy="1417320"/>
          </a:xfrm>
          <a:prstGeom prst="roundRect">
            <a:avLst>
              <a:gd name="adj" fmla="val 7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3794760"/>
            <a:ext cx="11185855" cy="1417320"/>
          </a:xfrm>
          <a:prstGeom prst="rect">
            <a:avLst/>
          </a:prstGeom>
          <a:noFill/>
        </p:spPr>
        <p:txBody>
          <a:bodyPr wrap="square" lIns="177800" tIns="12700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A5F3FC"/>
                </a:solidFill>
                <a:latin typeface="Consolas"/>
              </a:rPr>
              <a:t>$ docker build -t cb-l1-support-chatbot:latest 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A5F3FC"/>
                </a:solidFill>
                <a:latin typeface="Consolas"/>
              </a:rPr>
              <a:t>$ docker run -d -p 5000:10000 -v &lt;path&gt;.env:/app/.env:ro cb-l1-support-chatbot:latest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394960"/>
            <a:ext cx="111858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1">
                <a:solidFill>
                  <a:srgbClr val="10B981"/>
                </a:solidFill>
                <a:latin typeface="Segoe UI"/>
              </a:rPr>
              <a:t>Verified locally — health check confirms Qdrant + LLM + RAG reachable inside the container.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72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310896"/>
            <a:ext cx="512064" cy="512064"/>
          </a:xfrm>
          <a:prstGeom prst="ellipse">
            <a:avLst/>
          </a:prstGeom>
          <a:solidFill>
            <a:srgbClr val="372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6888" y="310896"/>
            <a:ext cx="102412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" y="3108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372FA8"/>
                </a:solidFill>
                <a:latin typeface="Segoe UI"/>
              </a:rPr>
              <a:t>DEVELOPER PLAYBOOK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" y="54864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Segoe UI"/>
              </a:rPr>
              <a:t>"I Want to Change X" → Edit This 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64240" y="329184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15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329184"/>
            <a:ext cx="777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16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47104"/>
            <a:ext cx="11185855" cy="9525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6019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Segoe UI"/>
              </a:rPr>
              <a:t>CB L1 Support Chatbot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   ·   Technical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11185855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" y="1417320"/>
            <a:ext cx="4023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372FA8"/>
                </a:solidFill>
                <a:latin typeface="Segoe UI"/>
              </a:rPr>
              <a:t>Change similar-defect ranking weights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1417320"/>
            <a:ext cx="661385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backend/chatbot/retriever.py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980184"/>
            <a:ext cx="11185855" cy="512064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" y="1980184"/>
            <a:ext cx="4023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372FA8"/>
                </a:solidFill>
                <a:latin typeface="Segoe UI"/>
              </a:rPr>
              <a:t>Change the LLM's answer style/structure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980184"/>
            <a:ext cx="661385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backend/chatbot/prompts.py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543048"/>
            <a:ext cx="11185855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" y="2543048"/>
            <a:ext cx="4023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372FA8"/>
                </a:solidFill>
                <a:latin typeface="Segoe UI"/>
              </a:rPr>
              <a:t>Switch LLM provider (Azure ↔ GitHub ↔ Copilot)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543048"/>
            <a:ext cx="661385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backend/.env → LLM_PROVIDER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105912"/>
            <a:ext cx="11185855" cy="512064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4088" y="3105912"/>
            <a:ext cx="4023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372FA8"/>
                </a:solidFill>
                <a:latin typeface="Segoe UI"/>
              </a:rPr>
              <a:t>Change how questions are classified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3105912"/>
            <a:ext cx="661385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backend/chatbot/intent_router.py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668776"/>
            <a:ext cx="11185855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" y="3668776"/>
            <a:ext cx="4023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372FA8"/>
                </a:solidFill>
                <a:latin typeface="Segoe UI"/>
              </a:rPr>
              <a:t>Add a new API endpoint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3668776"/>
            <a:ext cx="661385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backend/api/routes.py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231640"/>
            <a:ext cx="11185855" cy="512064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4088" y="4231640"/>
            <a:ext cx="4023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372FA8"/>
                </a:solidFill>
                <a:latin typeface="Segoe UI"/>
              </a:rPr>
              <a:t>Change the Add Defect popover / UI 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4231640"/>
            <a:ext cx="661385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frontend/src/components/layout/Header.tsx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794504"/>
            <a:ext cx="11185855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4088" y="4794504"/>
            <a:ext cx="4023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372FA8"/>
                </a:solidFill>
                <a:latin typeface="Segoe UI"/>
              </a:rPr>
              <a:t>After ANY frontend change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4794504"/>
            <a:ext cx="661385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cd frontend &amp;&amp; npm run build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31089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6888" y="310896"/>
            <a:ext cx="102412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" y="3108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0B981"/>
                </a:solidFill>
                <a:latin typeface="Segoe UI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" y="54864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Segoe UI"/>
              </a:rPr>
              <a:t>Limitations &amp; Next Steps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64240" y="329184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15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329184"/>
            <a:ext cx="777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17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47104"/>
            <a:ext cx="11185855" cy="9525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6019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Segoe UI"/>
              </a:rPr>
              <a:t>CB L1 Support Chatbot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   ·   Technical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720" y="1513840"/>
            <a:ext cx="5440680" cy="4709160"/>
          </a:xfrm>
          <a:prstGeom prst="roundRect">
            <a:avLst>
              <a:gd name="adj" fmla="val 5000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1463040"/>
            <a:ext cx="5440680" cy="4709160"/>
          </a:xfrm>
          <a:prstGeom prst="roundRect">
            <a:avLst>
              <a:gd name="adj" fmla="val 5000"/>
            </a:avLst>
          </a:prstGeom>
          <a:solidFill>
            <a:srgbClr val="FFF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08660" y="166878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668780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1719072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11827"/>
                </a:solidFill>
                <a:latin typeface="Segoe UI"/>
              </a:rPr>
              <a:t>Known Limitations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468880"/>
            <a:ext cx="4800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00" b="0">
                <a:solidFill>
                  <a:srgbClr val="111827"/>
                </a:solidFill>
                <a:latin typeface="Segoe UI"/>
              </a:rPr>
              <a:t>●  Chat history is client-side only (localStorage) — no cross-device continuity</a:t>
            </a:r>
          </a:p>
          <a:p>
            <a:pPr>
              <a:spcAft>
                <a:spcPts val="1100"/>
              </a:spcAft>
            </a:pPr>
            <a:r>
              <a:rPr sz="1300" b="0">
                <a:solidFill>
                  <a:srgbClr val="111827"/>
                </a:solidFill>
                <a:latin typeface="Segoe UI"/>
              </a:rPr>
              <a:t>●  Local defect_knowledge_base.json needs a persistent volume in Docker to survive restarts</a:t>
            </a:r>
          </a:p>
          <a:p>
            <a:pPr>
              <a:spcAft>
                <a:spcPts val="1100"/>
              </a:spcAft>
            </a:pPr>
            <a:r>
              <a:rPr sz="1300" b="0">
                <a:solidFill>
                  <a:srgbClr val="111827"/>
                </a:solidFill>
                <a:latin typeface="Segoe UI"/>
              </a:rPr>
              <a:t>●  Jira API token must be verified/rotated periodically</a:t>
            </a:r>
          </a:p>
          <a:p>
            <a:pPr>
              <a:spcAft>
                <a:spcPts val="1100"/>
              </a:spcAft>
            </a:pPr>
            <a:r>
              <a:rPr sz="1300" b="0">
                <a:solidFill>
                  <a:srgbClr val="111827"/>
                </a:solidFill>
                <a:latin typeface="Segoe UI"/>
              </a:rPr>
              <a:t>●  JQL bulk-add is capped at 200 issues/run as a safety guard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14440" y="1513840"/>
            <a:ext cx="5440680" cy="4709160"/>
          </a:xfrm>
          <a:prstGeom prst="roundRect">
            <a:avLst>
              <a:gd name="adj" fmla="val 5000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63640" y="1463040"/>
            <a:ext cx="5440680" cy="470916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69380" y="166878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1668780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1719072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11827"/>
                </a:solidFill>
                <a:latin typeface="Segoe UI"/>
              </a:rPr>
              <a:t>Recommended Next Steps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468880"/>
            <a:ext cx="4800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00" b="0">
                <a:solidFill>
                  <a:srgbClr val="111827"/>
                </a:solidFill>
                <a:latin typeface="Segoe UI"/>
              </a:rPr>
              <a:t>●  Mount a persistent volume for backend/data/chatbot/ in production</a:t>
            </a:r>
          </a:p>
          <a:p>
            <a:pPr>
              <a:spcAft>
                <a:spcPts val="1100"/>
              </a:spcAft>
            </a:pPr>
            <a:r>
              <a:rPr sz="1300" b="0">
                <a:solidFill>
                  <a:srgbClr val="111827"/>
                </a:solidFill>
                <a:latin typeface="Segoe UI"/>
              </a:rPr>
              <a:t>●  Verify/rotate Jira API credentials before relying on live ingestion</a:t>
            </a:r>
          </a:p>
          <a:p>
            <a:pPr>
              <a:spcAft>
                <a:spcPts val="1100"/>
              </a:spcAft>
            </a:pPr>
            <a:r>
              <a:rPr sz="1300" b="0">
                <a:solidFill>
                  <a:srgbClr val="111827"/>
                </a:solidFill>
                <a:latin typeface="Segoe UI"/>
              </a:rPr>
              <a:t>●  Add regression tests around the retrieval scoring formula</a:t>
            </a:r>
          </a:p>
          <a:p>
            <a:pPr>
              <a:spcAft>
                <a:spcPts val="1100"/>
              </a:spcAft>
            </a:pPr>
            <a:r>
              <a:rPr sz="1300" b="0">
                <a:solidFill>
                  <a:srgbClr val="111827"/>
                </a:solidFill>
                <a:latin typeface="Segoe UI"/>
              </a:rPr>
              <a:t>●  Periodically re-run the offline batch build as Jira terminology evolves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31089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6888" y="310896"/>
            <a:ext cx="102412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" y="3108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0B981"/>
                </a:solidFill>
                <a:latin typeface="Segoe UI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" y="54864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Segoe UI"/>
              </a:rPr>
              <a:t>Key Takeaways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64240" y="329184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15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329184"/>
            <a:ext cx="777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18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47104"/>
            <a:ext cx="11185855" cy="9525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6019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Segoe UI"/>
              </a:rPr>
              <a:t>CB L1 Support Chatbot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   ·   Technical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720" y="1651000"/>
            <a:ext cx="11185855" cy="914400"/>
          </a:xfrm>
          <a:prstGeom prst="roundRect">
            <a:avLst>
              <a:gd name="adj" fmla="val 12000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1600200"/>
            <a:ext cx="11185855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22376" y="1773936"/>
            <a:ext cx="566928" cy="56692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" y="1773936"/>
            <a:ext cx="1133856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1600200"/>
            <a:ext cx="9905695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  <a:latin typeface="Segoe UI"/>
              </a:rPr>
              <a:t>A single assistant unifies historical defect knowledge and product documentation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3720" y="2702560"/>
            <a:ext cx="11185855" cy="914400"/>
          </a:xfrm>
          <a:prstGeom prst="roundRect">
            <a:avLst>
              <a:gd name="adj" fmla="val 12000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02920" y="2651760"/>
            <a:ext cx="11185855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22376" y="2825496"/>
            <a:ext cx="566928" cy="566928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" y="2825496"/>
            <a:ext cx="1133856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2651760"/>
            <a:ext cx="9905695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  <a:latin typeface="Segoe UI"/>
              </a:rPr>
              <a:t>Retrieval is hybrid — semantic + keyword + metadata — tuned to preserve accuracy, not just "vector search"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3720" y="3754120"/>
            <a:ext cx="11185855" cy="914400"/>
          </a:xfrm>
          <a:prstGeom prst="roundRect">
            <a:avLst>
              <a:gd name="adj" fmla="val 12000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02920" y="3703320"/>
            <a:ext cx="11185855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22376" y="3877056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" y="3877056"/>
            <a:ext cx="1133856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3703320"/>
            <a:ext cx="9905695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  <a:latin typeface="Segoe UI"/>
              </a:rPr>
              <a:t>Both knowledge bases are LIVE-updatable from the UI — no rebuilds, no downtime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3720" y="4805680"/>
            <a:ext cx="11185855" cy="914400"/>
          </a:xfrm>
          <a:prstGeom prst="roundRect">
            <a:avLst>
              <a:gd name="adj" fmla="val 12000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02920" y="4754880"/>
            <a:ext cx="11185855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22376" y="492861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8912" y="4928616"/>
            <a:ext cx="1133856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4754880"/>
            <a:ext cx="9905695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  <a:latin typeface="Segoe UI"/>
              </a:rPr>
              <a:t>Provider-agnostic for LLMs; deployable via Docker or Render with minimal changes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3720" y="5857240"/>
            <a:ext cx="11185855" cy="777240"/>
          </a:xfrm>
          <a:prstGeom prst="roundRect">
            <a:avLst>
              <a:gd name="adj" fmla="val 12000"/>
            </a:avLst>
          </a:prstGeom>
          <a:solidFill>
            <a:srgbClr val="DD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02920" y="5806440"/>
            <a:ext cx="11185855" cy="777240"/>
          </a:xfrm>
          <a:prstGeom prst="roundRect">
            <a:avLst>
              <a:gd name="adj" fmla="val 12000"/>
            </a:avLst>
          </a:prstGeom>
          <a:solidFill>
            <a:srgbClr val="15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" y="5806440"/>
            <a:ext cx="1045433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50" b="1" i="1">
                <a:solidFill>
                  <a:srgbClr val="FFFFFF"/>
                </a:solidFill>
                <a:latin typeface="Segoe UI"/>
              </a:rPr>
              <a:t>This deck + the developer playbook is the reference for making future changes safely.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" y="1920240"/>
            <a:ext cx="822960" cy="8229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92024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CB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404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06B6D4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3093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94A3B8"/>
                </a:solidFill>
                <a:latin typeface="Segoe UI"/>
              </a:rPr>
              <a:t>CB L1 Support Chatbot  ·  Technical Overview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2230</Words>
  <Application>Microsoft Office PowerPoint</Application>
  <PresentationFormat>Widescreen</PresentationFormat>
  <Paragraphs>351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Nagar, Mayank</cp:lastModifiedBy>
  <cp:revision>2</cp:revision>
  <dcterms:created xsi:type="dcterms:W3CDTF">2013-01-27T09:14:16Z</dcterms:created>
  <dcterms:modified xsi:type="dcterms:W3CDTF">2026-07-15T03:50:42Z</dcterms:modified>
  <cp:category/>
</cp:coreProperties>
</file>